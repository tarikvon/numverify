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470" y="4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7ACAD806-0159-41DD-AACC-E880505B312F}"/>
              </a:ext>
            </a:extLst>
          </p:cNvPr>
          <p:cNvSpPr/>
          <p:nvPr/>
        </p:nvSpPr>
        <p:spPr>
          <a:xfrm rot="5400000">
            <a:off x="6040386" y="1156184"/>
            <a:ext cx="193911" cy="106862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1C2FF97-58E8-4F1F-9AC7-E21C0CFA4665}"/>
              </a:ext>
            </a:extLst>
          </p:cNvPr>
          <p:cNvSpPr txBox="1"/>
          <p:nvPr/>
        </p:nvSpPr>
        <p:spPr>
          <a:xfrm>
            <a:off x="65145" y="47767"/>
            <a:ext cx="16326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foreground.csv</a:t>
            </a:r>
            <a:endParaRPr lang="zh-CN" altLang="en-US" b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1C0114B-648A-438B-95DC-A2C015D22A52}"/>
              </a:ext>
            </a:extLst>
          </p:cNvPr>
          <p:cNvSpPr txBox="1"/>
          <p:nvPr/>
        </p:nvSpPr>
        <p:spPr>
          <a:xfrm>
            <a:off x="6510220" y="47592"/>
            <a:ext cx="19520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</a:lstStyle>
          <a:p>
            <a:r>
              <a:rPr lang="en-US" altLang="zh-CN" b="1" dirty="0"/>
              <a:t>battery_data.csv</a:t>
            </a:r>
            <a:endParaRPr lang="zh-CN" altLang="en-US" b="1" dirty="0"/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48D13F10-3669-463A-9B22-00167C7A92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0748303"/>
              </p:ext>
            </p:extLst>
          </p:nvPr>
        </p:nvGraphicFramePr>
        <p:xfrm>
          <a:off x="65145" y="432380"/>
          <a:ext cx="5604629" cy="1463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40205">
                  <a:extLst>
                    <a:ext uri="{9D8B030D-6E8A-4147-A177-3AD203B41FA5}">
                      <a16:colId xmlns:a16="http://schemas.microsoft.com/office/drawing/2014/main" val="1637909680"/>
                    </a:ext>
                  </a:extLst>
                </a:gridCol>
                <a:gridCol w="1640205">
                  <a:extLst>
                    <a:ext uri="{9D8B030D-6E8A-4147-A177-3AD203B41FA5}">
                      <a16:colId xmlns:a16="http://schemas.microsoft.com/office/drawing/2014/main" val="665239954"/>
                    </a:ext>
                  </a:extLst>
                </a:gridCol>
                <a:gridCol w="2324219">
                  <a:extLst>
                    <a:ext uri="{9D8B030D-6E8A-4147-A177-3AD203B41FA5}">
                      <a16:colId xmlns:a16="http://schemas.microsoft.com/office/drawing/2014/main" val="39163477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start_time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end_time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package_name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6852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dirty="0"/>
                        <a:t>01-01 08:05:10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01-01 08:20:30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com.huawei.it.welink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42300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dirty="0"/>
                        <a:t>01-01 08:22:00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01-01 08:35:00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com.tencent.wechat</a:t>
                      </a:r>
                      <a:endParaRPr lang="en-US" altLang="zh-C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3059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dirty="0"/>
                        <a:t>01-01 08:40:00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01-01 08:55:00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com.ohos.contacts</a:t>
                      </a:r>
                      <a:endParaRPr lang="en-US" altLang="zh-C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992621"/>
                  </a:ext>
                </a:extLst>
              </a:tr>
            </a:tbl>
          </a:graphicData>
        </a:graphic>
      </p:graphicFrame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A0F12C98-3CBE-4230-9CBF-DDB5A0AE29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777501"/>
              </p:ext>
            </p:extLst>
          </p:nvPr>
        </p:nvGraphicFramePr>
        <p:xfrm>
          <a:off x="6590937" y="428818"/>
          <a:ext cx="5332857" cy="1463040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1640205">
                  <a:extLst>
                    <a:ext uri="{9D8B030D-6E8A-4147-A177-3AD203B41FA5}">
                      <a16:colId xmlns:a16="http://schemas.microsoft.com/office/drawing/2014/main" val="3945705219"/>
                    </a:ext>
                  </a:extLst>
                </a:gridCol>
                <a:gridCol w="1640205">
                  <a:extLst>
                    <a:ext uri="{9D8B030D-6E8A-4147-A177-3AD203B41FA5}">
                      <a16:colId xmlns:a16="http://schemas.microsoft.com/office/drawing/2014/main" val="2114442173"/>
                    </a:ext>
                  </a:extLst>
                </a:gridCol>
                <a:gridCol w="1014984">
                  <a:extLst>
                    <a:ext uri="{9D8B030D-6E8A-4147-A177-3AD203B41FA5}">
                      <a16:colId xmlns:a16="http://schemas.microsoft.com/office/drawing/2014/main" val="92313083"/>
                    </a:ext>
                  </a:extLst>
                </a:gridCol>
                <a:gridCol w="1037463">
                  <a:extLst>
                    <a:ext uri="{9D8B030D-6E8A-4147-A177-3AD203B41FA5}">
                      <a16:colId xmlns:a16="http://schemas.microsoft.com/office/drawing/2014/main" val="37965303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start_time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end_time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800" b="1" kern="1200" dirty="0">
                          <a:solidFill>
                            <a:schemeClr val="lt1"/>
                          </a:solidFill>
                          <a:effectLst/>
                        </a:rPr>
                        <a:t>capacity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charging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31405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dirty="0"/>
                        <a:t>01-01 08:00:00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01-01 08:23:00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-5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9517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dirty="0"/>
                        <a:t>01-01 08:23:00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01-01 09:10:00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3455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01-01 09:10:00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01-01 10:10:00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8573231"/>
                  </a:ext>
                </a:extLst>
              </a:tr>
            </a:tbl>
          </a:graphicData>
        </a:graphic>
      </p:graphicFrame>
      <p:graphicFrame>
        <p:nvGraphicFramePr>
          <p:cNvPr id="15" name="表格 15">
            <a:extLst>
              <a:ext uri="{FF2B5EF4-FFF2-40B4-BE49-F238E27FC236}">
                <a16:creationId xmlns:a16="http://schemas.microsoft.com/office/drawing/2014/main" id="{8F54123E-6D18-4FDA-8A94-1C399E26EB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092544"/>
              </p:ext>
            </p:extLst>
          </p:nvPr>
        </p:nvGraphicFramePr>
        <p:xfrm>
          <a:off x="827631" y="2904268"/>
          <a:ext cx="3976304" cy="524732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909494">
                  <a:extLst>
                    <a:ext uri="{9D8B030D-6E8A-4147-A177-3AD203B41FA5}">
                      <a16:colId xmlns:a16="http://schemas.microsoft.com/office/drawing/2014/main" val="4082819571"/>
                    </a:ext>
                  </a:extLst>
                </a:gridCol>
                <a:gridCol w="2105787">
                  <a:extLst>
                    <a:ext uri="{9D8B030D-6E8A-4147-A177-3AD203B41FA5}">
                      <a16:colId xmlns:a16="http://schemas.microsoft.com/office/drawing/2014/main" val="3327526011"/>
                    </a:ext>
                  </a:extLst>
                </a:gridCol>
                <a:gridCol w="961023">
                  <a:extLst>
                    <a:ext uri="{9D8B030D-6E8A-4147-A177-3AD203B41FA5}">
                      <a16:colId xmlns:a16="http://schemas.microsoft.com/office/drawing/2014/main" val="1464253582"/>
                    </a:ext>
                  </a:extLst>
                </a:gridCol>
              </a:tblGrid>
              <a:tr h="52473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Social</a:t>
                      </a:r>
                      <a:endParaRPr lang="zh-CN" altLang="en-US" sz="2400" b="1" dirty="0"/>
                    </a:p>
                  </a:txBody>
                  <a:tcPr marL="82248" marR="82248" marT="41124" marB="41124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Video</a:t>
                      </a:r>
                      <a:endParaRPr lang="zh-CN" altLang="en-US" sz="2400" b="1" dirty="0"/>
                    </a:p>
                  </a:txBody>
                  <a:tcPr marL="82248" marR="82248" marT="41124" marB="41124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Work</a:t>
                      </a:r>
                      <a:endParaRPr lang="zh-CN" altLang="en-US" sz="2400" b="1" dirty="0"/>
                    </a:p>
                  </a:txBody>
                  <a:tcPr marL="82248" marR="82248" marT="41124" marB="41124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599774"/>
                  </a:ext>
                </a:extLst>
              </a:tr>
            </a:tbl>
          </a:graphicData>
        </a:graphic>
      </p:graphicFrame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44534F31-1A41-42A0-BF33-3136BB0FF0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0516864"/>
              </p:ext>
            </p:extLst>
          </p:nvPr>
        </p:nvGraphicFramePr>
        <p:xfrm>
          <a:off x="827631" y="3606832"/>
          <a:ext cx="3976304" cy="524732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126720">
                  <a:extLst>
                    <a:ext uri="{9D8B030D-6E8A-4147-A177-3AD203B41FA5}">
                      <a16:colId xmlns:a16="http://schemas.microsoft.com/office/drawing/2014/main" val="4082819571"/>
                    </a:ext>
                  </a:extLst>
                </a:gridCol>
                <a:gridCol w="519546">
                  <a:extLst>
                    <a:ext uri="{9D8B030D-6E8A-4147-A177-3AD203B41FA5}">
                      <a16:colId xmlns:a16="http://schemas.microsoft.com/office/drawing/2014/main" val="3327526011"/>
                    </a:ext>
                  </a:extLst>
                </a:gridCol>
                <a:gridCol w="1330038">
                  <a:extLst>
                    <a:ext uri="{9D8B030D-6E8A-4147-A177-3AD203B41FA5}">
                      <a16:colId xmlns:a16="http://schemas.microsoft.com/office/drawing/2014/main" val="1464253582"/>
                    </a:ext>
                  </a:extLst>
                </a:gridCol>
              </a:tblGrid>
              <a:tr h="52473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Social</a:t>
                      </a:r>
                      <a:endParaRPr lang="zh-CN" altLang="en-US" sz="2400" b="1" dirty="0"/>
                    </a:p>
                  </a:txBody>
                  <a:tcPr marL="82248" marR="82248" marT="41124" marB="41124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b="1" dirty="0"/>
                    </a:p>
                  </a:txBody>
                  <a:tcPr marL="82248" marR="82248" marT="41124" marB="41124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Work</a:t>
                      </a:r>
                      <a:endParaRPr lang="zh-CN" altLang="en-US" sz="2400" b="1" dirty="0"/>
                    </a:p>
                  </a:txBody>
                  <a:tcPr marL="82248" marR="82248" marT="41124" marB="41124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599774"/>
                  </a:ext>
                </a:extLst>
              </a:tr>
            </a:tbl>
          </a:graphicData>
        </a:graphic>
      </p:graphicFrame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93E7E033-015C-4969-82D7-986E6E3AE2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4852678"/>
              </p:ext>
            </p:extLst>
          </p:nvPr>
        </p:nvGraphicFramePr>
        <p:xfrm>
          <a:off x="827631" y="2201704"/>
          <a:ext cx="3976304" cy="524732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84066">
                  <a:extLst>
                    <a:ext uri="{9D8B030D-6E8A-4147-A177-3AD203B41FA5}">
                      <a16:colId xmlns:a16="http://schemas.microsoft.com/office/drawing/2014/main" val="408281957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3327526011"/>
                    </a:ext>
                  </a:extLst>
                </a:gridCol>
                <a:gridCol w="3387438">
                  <a:extLst>
                    <a:ext uri="{9D8B030D-6E8A-4147-A177-3AD203B41FA5}">
                      <a16:colId xmlns:a16="http://schemas.microsoft.com/office/drawing/2014/main" val="1464253582"/>
                    </a:ext>
                  </a:extLst>
                </a:gridCol>
              </a:tblGrid>
              <a:tr h="524732">
                <a:tc>
                  <a:txBody>
                    <a:bodyPr/>
                    <a:lstStyle/>
                    <a:p>
                      <a:pPr algn="ctr"/>
                      <a:endParaRPr lang="zh-CN" altLang="en-US" sz="2400" b="1" dirty="0"/>
                    </a:p>
                  </a:txBody>
                  <a:tcPr marL="82248" marR="82248" marT="41124" marB="41124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b="1" dirty="0"/>
                    </a:p>
                  </a:txBody>
                  <a:tcPr marL="82248" marR="82248" marT="41124" marB="41124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Work</a:t>
                      </a:r>
                      <a:endParaRPr lang="zh-CN" altLang="en-US" sz="2400" b="1" dirty="0"/>
                    </a:p>
                  </a:txBody>
                  <a:tcPr marL="82248" marR="82248" marT="41124" marB="41124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599774"/>
                  </a:ext>
                </a:extLst>
              </a:tr>
            </a:tbl>
          </a:graphicData>
        </a:graphic>
      </p:graphicFrame>
      <p:sp>
        <p:nvSpPr>
          <p:cNvPr id="21" name="箭头: 直角上 20">
            <a:extLst>
              <a:ext uri="{FF2B5EF4-FFF2-40B4-BE49-F238E27FC236}">
                <a16:creationId xmlns:a16="http://schemas.microsoft.com/office/drawing/2014/main" id="{C4805BAE-26A0-4CC1-A67D-3DBC3F4AECC3}"/>
              </a:ext>
            </a:extLst>
          </p:cNvPr>
          <p:cNvSpPr/>
          <p:nvPr/>
        </p:nvSpPr>
        <p:spPr>
          <a:xfrm rot="5400000" flipV="1">
            <a:off x="5116006" y="1563014"/>
            <a:ext cx="837912" cy="1394859"/>
          </a:xfrm>
          <a:prstGeom prst="bentUpArrow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流程图: 或者 23">
            <a:extLst>
              <a:ext uri="{FF2B5EF4-FFF2-40B4-BE49-F238E27FC236}">
                <a16:creationId xmlns:a16="http://schemas.microsoft.com/office/drawing/2014/main" id="{1B59789F-B6B1-47F5-B215-D1348415C134}"/>
              </a:ext>
            </a:extLst>
          </p:cNvPr>
          <p:cNvSpPr/>
          <p:nvPr/>
        </p:nvSpPr>
        <p:spPr>
          <a:xfrm>
            <a:off x="5864641" y="1424781"/>
            <a:ext cx="531429" cy="531429"/>
          </a:xfrm>
          <a:prstGeom prst="flowChartOr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4D3231E-D534-4AE1-99BF-A4DAEA5B8F5D}"/>
              </a:ext>
            </a:extLst>
          </p:cNvPr>
          <p:cNvSpPr txBox="1"/>
          <p:nvPr/>
        </p:nvSpPr>
        <p:spPr>
          <a:xfrm>
            <a:off x="5015315" y="2679400"/>
            <a:ext cx="16326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ln w="0"/>
                <a:solidFill>
                  <a:schemeClr val="accent1"/>
                </a:solidFill>
              </a:rPr>
              <a:t>behave_vector_generator.py</a:t>
            </a:r>
            <a:endParaRPr lang="zh-CN" altLang="en-US" b="1" dirty="0">
              <a:ln w="0"/>
              <a:solidFill>
                <a:schemeClr val="accent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337FDDE-0D20-4F49-85C1-FC9CB6D6342D}"/>
              </a:ext>
            </a:extLst>
          </p:cNvPr>
          <p:cNvSpPr txBox="1"/>
          <p:nvPr/>
        </p:nvSpPr>
        <p:spPr>
          <a:xfrm>
            <a:off x="827631" y="4155471"/>
            <a:ext cx="3976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/>
              <a:t>|</a:t>
            </a:r>
            <a:r>
              <a:rPr lang="zh-CN" altLang="en-US" b="1" dirty="0"/>
              <a:t>←</a:t>
            </a:r>
            <a:r>
              <a:rPr lang="en-US" altLang="zh-CN" b="1" dirty="0"/>
              <a:t>                   1 Hour                  </a:t>
            </a:r>
            <a:r>
              <a:rPr lang="zh-CN" altLang="en-US" b="1" dirty="0"/>
              <a:t>→</a:t>
            </a:r>
            <a:r>
              <a:rPr lang="en-US" altLang="zh-CN" b="1" dirty="0"/>
              <a:t>|</a:t>
            </a:r>
            <a:endParaRPr lang="zh-CN" altLang="en-US" b="1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8372A5E-169D-4B11-B008-E0E5D83C84AD}"/>
              </a:ext>
            </a:extLst>
          </p:cNvPr>
          <p:cNvSpPr txBox="1"/>
          <p:nvPr/>
        </p:nvSpPr>
        <p:spPr>
          <a:xfrm>
            <a:off x="6859322" y="2205631"/>
            <a:ext cx="5064472" cy="3046988"/>
          </a:xfrm>
          <a:prstGeom prst="rect">
            <a:avLst/>
          </a:prstGeom>
          <a:ln w="254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sz="16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Timestamp</a:t>
            </a:r>
            <a:r>
              <a:rPr lang="en-US" altLang="zh-CN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"2024-01-01 08:00:00"</a:t>
            </a:r>
            <a:r>
              <a:rPr lang="en-US" altLang="zh-CN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): [</a:t>
            </a:r>
          </a:p>
          <a:p>
            <a:r>
              <a:rPr lang="en-US" altLang="zh-CN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{</a:t>
            </a:r>
            <a:r>
              <a:rPr lang="en-US" altLang="zh-CN" sz="16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"social"</a:t>
            </a:r>
            <a:r>
              <a:rPr lang="en-US" altLang="zh-CN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6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915</a:t>
            </a:r>
            <a:r>
              <a:rPr lang="en-US" altLang="zh-CN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"video"</a:t>
            </a:r>
            <a:r>
              <a:rPr lang="en-US" altLang="zh-CN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6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480</a:t>
            </a:r>
            <a:r>
              <a:rPr lang="en-US" altLang="zh-CN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r>
              <a:rPr lang="en-US" altLang="zh-CN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zh-CN" sz="16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zh-CN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zh-CN" sz="16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False</a:t>
            </a:r>
            <a:endParaRPr lang="en-US" altLang="zh-CN" sz="16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],</a:t>
            </a:r>
          </a:p>
          <a:p>
            <a:r>
              <a:rPr lang="en-US" altLang="zh-CN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sz="16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Timestamp</a:t>
            </a:r>
            <a:r>
              <a:rPr lang="en-US" altLang="zh-CN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"2024-01-01 08:30:00"</a:t>
            </a:r>
            <a:r>
              <a:rPr lang="en-US" altLang="zh-CN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): [</a:t>
            </a:r>
          </a:p>
          <a:p>
            <a:r>
              <a:rPr lang="en-US" altLang="zh-CN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{</a:t>
            </a:r>
            <a:r>
              <a:rPr lang="en-US" altLang="zh-CN" sz="16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"video"</a:t>
            </a:r>
            <a:r>
              <a:rPr lang="en-US" altLang="zh-CN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6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300</a:t>
            </a:r>
            <a:r>
              <a:rPr lang="en-US" altLang="zh-CN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"social"</a:t>
            </a:r>
            <a:r>
              <a:rPr lang="en-US" altLang="zh-CN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6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900</a:t>
            </a:r>
            <a:r>
              <a:rPr lang="en-US" altLang="zh-CN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r>
              <a:rPr lang="en-US" altLang="zh-CN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zh-CN" sz="16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zh-CN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zh-CN" sz="16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False</a:t>
            </a:r>
            <a:endParaRPr lang="en-US" altLang="zh-CN" sz="16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]</a:t>
            </a:r>
          </a:p>
          <a:p>
            <a:r>
              <a:rPr lang="en-US" altLang="zh-CN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0" name="箭头: 右 29">
            <a:extLst>
              <a:ext uri="{FF2B5EF4-FFF2-40B4-BE49-F238E27FC236}">
                <a16:creationId xmlns:a16="http://schemas.microsoft.com/office/drawing/2014/main" id="{875E6C88-C0EE-4824-8405-E68C96F3881E}"/>
              </a:ext>
            </a:extLst>
          </p:cNvPr>
          <p:cNvSpPr/>
          <p:nvPr/>
        </p:nvSpPr>
        <p:spPr>
          <a:xfrm>
            <a:off x="4932245" y="3305117"/>
            <a:ext cx="1880841" cy="418957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1CDEB25E-CFD7-495D-8857-E6B781CA0EC9}"/>
              </a:ext>
            </a:extLst>
          </p:cNvPr>
          <p:cNvSpPr/>
          <p:nvPr/>
        </p:nvSpPr>
        <p:spPr>
          <a:xfrm>
            <a:off x="187572" y="4612004"/>
            <a:ext cx="5145107" cy="2088180"/>
          </a:xfrm>
          <a:prstGeom prst="roundRect">
            <a:avLst/>
          </a:prstGeom>
          <a:ln w="25400"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2" name="箭头: 右 31">
            <a:extLst>
              <a:ext uri="{FF2B5EF4-FFF2-40B4-BE49-F238E27FC236}">
                <a16:creationId xmlns:a16="http://schemas.microsoft.com/office/drawing/2014/main" id="{76580789-A0F2-4CD2-84FA-092F3D22D225}"/>
              </a:ext>
            </a:extLst>
          </p:cNvPr>
          <p:cNvSpPr/>
          <p:nvPr/>
        </p:nvSpPr>
        <p:spPr>
          <a:xfrm rot="10800000">
            <a:off x="5378915" y="4863229"/>
            <a:ext cx="1434171" cy="418957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B4C695C-A655-464F-94C0-5706CA9E4AFD}"/>
              </a:ext>
            </a:extLst>
          </p:cNvPr>
          <p:cNvSpPr txBox="1"/>
          <p:nvPr/>
        </p:nvSpPr>
        <p:spPr>
          <a:xfrm>
            <a:off x="5280079" y="5330654"/>
            <a:ext cx="16326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n w="0"/>
                <a:solidFill>
                  <a:schemeClr val="accent2"/>
                </a:solidFill>
              </a:rPr>
              <a:t>NumValKit</a:t>
            </a:r>
            <a:endParaRPr lang="zh-CN" altLang="en-US" sz="2000" b="1" dirty="0">
              <a:ln w="0"/>
              <a:solidFill>
                <a:schemeClr val="accent2"/>
              </a:solidFill>
            </a:endParaRPr>
          </a:p>
        </p:txBody>
      </p:sp>
      <p:sp>
        <p:nvSpPr>
          <p:cNvPr id="35" name="箭头: 右 34">
            <a:extLst>
              <a:ext uri="{FF2B5EF4-FFF2-40B4-BE49-F238E27FC236}">
                <a16:creationId xmlns:a16="http://schemas.microsoft.com/office/drawing/2014/main" id="{951A8B5B-5568-405C-8BAE-263A044F527A}"/>
              </a:ext>
            </a:extLst>
          </p:cNvPr>
          <p:cNvSpPr/>
          <p:nvPr/>
        </p:nvSpPr>
        <p:spPr>
          <a:xfrm>
            <a:off x="5435617" y="5723024"/>
            <a:ext cx="1434171" cy="418957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781622F-9FB0-4E1B-81E4-C5DE2602721D}"/>
              </a:ext>
            </a:extLst>
          </p:cNvPr>
          <p:cNvSpPr txBox="1"/>
          <p:nvPr/>
        </p:nvSpPr>
        <p:spPr>
          <a:xfrm>
            <a:off x="300678" y="4703376"/>
            <a:ext cx="4879781" cy="369332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r>
              <a:rPr lang="en-US" altLang="zh-CN" b="1" dirty="0">
                <a:solidFill>
                  <a:schemeClr val="accent6"/>
                </a:solidFill>
              </a:rPr>
              <a:t>Predictors/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045BC5C-70F0-4C33-B284-48B9016FD545}"/>
              </a:ext>
            </a:extLst>
          </p:cNvPr>
          <p:cNvSpPr txBox="1"/>
          <p:nvPr/>
        </p:nvSpPr>
        <p:spPr>
          <a:xfrm>
            <a:off x="440688" y="5072709"/>
            <a:ext cx="1283482" cy="1451679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dirty="0">
                <a:solidFill>
                  <a:schemeClr val="dk1"/>
                </a:solidFill>
              </a:rPr>
              <a:t>AOSP</a:t>
            </a:r>
          </a:p>
          <a:p>
            <a:pPr>
              <a:lnSpc>
                <a:spcPct val="125000"/>
              </a:lnSpc>
            </a:pPr>
            <a:r>
              <a:rPr lang="en-US" altLang="zh-CN" dirty="0">
                <a:solidFill>
                  <a:schemeClr val="dk1"/>
                </a:solidFill>
              </a:rPr>
              <a:t>Statistical</a:t>
            </a:r>
          </a:p>
          <a:p>
            <a:pPr>
              <a:lnSpc>
                <a:spcPct val="125000"/>
              </a:lnSpc>
            </a:pPr>
            <a:r>
              <a:rPr lang="en-US" altLang="zh-CN" dirty="0">
                <a:solidFill>
                  <a:schemeClr val="dk1"/>
                </a:solidFill>
              </a:rPr>
              <a:t>K-means</a:t>
            </a:r>
          </a:p>
          <a:p>
            <a:pPr>
              <a:lnSpc>
                <a:spcPct val="125000"/>
              </a:lnSpc>
            </a:pPr>
            <a:r>
              <a:rPr lang="en-US" altLang="zh-CN" dirty="0">
                <a:solidFill>
                  <a:schemeClr val="dk1"/>
                </a:solidFill>
              </a:rPr>
              <a:t>GGNN</a:t>
            </a:r>
          </a:p>
        </p:txBody>
      </p:sp>
      <p:pic>
        <p:nvPicPr>
          <p:cNvPr id="42" name="图形 41" descr="智能手机 纯色填充">
            <a:extLst>
              <a:ext uri="{FF2B5EF4-FFF2-40B4-BE49-F238E27FC236}">
                <a16:creationId xmlns:a16="http://schemas.microsoft.com/office/drawing/2014/main" id="{F06F9703-C1D0-481B-AC2D-16DCB3639E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17041" y="5306440"/>
            <a:ext cx="1466801" cy="1466801"/>
          </a:xfrm>
          <a:prstGeom prst="rect">
            <a:avLst/>
          </a:prstGeom>
        </p:spPr>
      </p:pic>
      <p:pic>
        <p:nvPicPr>
          <p:cNvPr id="46" name="图形 45" descr="电量用尽的电池 纯色填充">
            <a:extLst>
              <a:ext uri="{FF2B5EF4-FFF2-40B4-BE49-F238E27FC236}">
                <a16:creationId xmlns:a16="http://schemas.microsoft.com/office/drawing/2014/main" id="{B644FEC9-4884-49F1-BF89-2F1AAD5873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16174" y="5803843"/>
            <a:ext cx="468534" cy="468534"/>
          </a:xfrm>
          <a:prstGeom prst="rect">
            <a:avLst/>
          </a:prstGeom>
        </p:spPr>
      </p:pic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8C230CBF-4C41-42B7-9F40-483C36551C8D}"/>
              </a:ext>
            </a:extLst>
          </p:cNvPr>
          <p:cNvCxnSpPr>
            <a:cxnSpLocks/>
          </p:cNvCxnSpPr>
          <p:nvPr/>
        </p:nvCxnSpPr>
        <p:spPr>
          <a:xfrm>
            <a:off x="3387495" y="4612004"/>
            <a:ext cx="0" cy="2078356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47B8B823-D80C-47E8-8AC5-5D7E470E9ABA}"/>
              </a:ext>
            </a:extLst>
          </p:cNvPr>
          <p:cNvSpPr txBox="1"/>
          <p:nvPr/>
        </p:nvSpPr>
        <p:spPr>
          <a:xfrm>
            <a:off x="1724681" y="5072708"/>
            <a:ext cx="1757173" cy="1451679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dirty="0">
                <a:solidFill>
                  <a:schemeClr val="dk1"/>
                </a:solidFill>
              </a:rPr>
              <a:t>Auto Encoder</a:t>
            </a:r>
          </a:p>
          <a:p>
            <a:pPr>
              <a:lnSpc>
                <a:spcPct val="125000"/>
              </a:lnSpc>
            </a:pPr>
            <a:r>
              <a:rPr lang="en-US" altLang="zh-CN" dirty="0">
                <a:solidFill>
                  <a:schemeClr val="dk1"/>
                </a:solidFill>
              </a:rPr>
              <a:t>Decision Tree</a:t>
            </a:r>
          </a:p>
          <a:p>
            <a:pPr>
              <a:lnSpc>
                <a:spcPct val="125000"/>
              </a:lnSpc>
            </a:pPr>
            <a:r>
              <a:rPr lang="en-US" altLang="zh-CN" dirty="0">
                <a:solidFill>
                  <a:schemeClr val="dk1"/>
                </a:solidFill>
              </a:rPr>
              <a:t>Random Forest</a:t>
            </a:r>
          </a:p>
          <a:p>
            <a:pPr>
              <a:lnSpc>
                <a:spcPct val="125000"/>
              </a:lnSpc>
            </a:pPr>
            <a:r>
              <a:rPr lang="en-US" altLang="zh-CN" dirty="0">
                <a:solidFill>
                  <a:schemeClr val="dk1"/>
                </a:solidFill>
              </a:rPr>
              <a:t>K-means Plus</a:t>
            </a:r>
          </a:p>
        </p:txBody>
      </p:sp>
      <p:pic>
        <p:nvPicPr>
          <p:cNvPr id="53" name="图形 52" descr="秒表 66% 纯色填充">
            <a:extLst>
              <a:ext uri="{FF2B5EF4-FFF2-40B4-BE49-F238E27FC236}">
                <a16:creationId xmlns:a16="http://schemas.microsoft.com/office/drawing/2014/main" id="{D21779B9-6D05-4794-875C-074568A9D3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04379" y="5665608"/>
            <a:ext cx="763574" cy="763574"/>
          </a:xfrm>
          <a:prstGeom prst="rect">
            <a:avLst/>
          </a:prstGeom>
        </p:spPr>
      </p:pic>
      <p:sp>
        <p:nvSpPr>
          <p:cNvPr id="54" name="文本框 53">
            <a:extLst>
              <a:ext uri="{FF2B5EF4-FFF2-40B4-BE49-F238E27FC236}">
                <a16:creationId xmlns:a16="http://schemas.microsoft.com/office/drawing/2014/main" id="{65BD6C3E-0AFA-46A4-B470-984B9E5FBD98}"/>
              </a:ext>
            </a:extLst>
          </p:cNvPr>
          <p:cNvSpPr txBox="1"/>
          <p:nvPr/>
        </p:nvSpPr>
        <p:spPr>
          <a:xfrm>
            <a:off x="3662730" y="5070342"/>
            <a:ext cx="1757173" cy="1451679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dirty="0">
                <a:solidFill>
                  <a:schemeClr val="dk1"/>
                </a:solidFill>
              </a:rPr>
              <a:t>PCA</a:t>
            </a:r>
          </a:p>
          <a:p>
            <a:pPr>
              <a:lnSpc>
                <a:spcPct val="125000"/>
              </a:lnSpc>
            </a:pPr>
            <a:r>
              <a:rPr lang="en-US" altLang="zh-CN" dirty="0">
                <a:solidFill>
                  <a:schemeClr val="dk1"/>
                </a:solidFill>
              </a:rPr>
              <a:t>Holiday Tag</a:t>
            </a:r>
          </a:p>
          <a:p>
            <a:pPr>
              <a:lnSpc>
                <a:spcPct val="125000"/>
              </a:lnSpc>
            </a:pPr>
            <a:r>
              <a:rPr lang="en-US" altLang="zh-CN" dirty="0">
                <a:solidFill>
                  <a:schemeClr val="dk1"/>
                </a:solidFill>
              </a:rPr>
              <a:t>Time Triangle</a:t>
            </a:r>
          </a:p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chemeClr val="dk1"/>
                </a:solidFill>
              </a:rPr>
              <a:t>···</a:t>
            </a:r>
          </a:p>
        </p:txBody>
      </p:sp>
      <p:pic>
        <p:nvPicPr>
          <p:cNvPr id="56" name="图形 55" descr="温度计 纯色填充">
            <a:extLst>
              <a:ext uri="{FF2B5EF4-FFF2-40B4-BE49-F238E27FC236}">
                <a16:creationId xmlns:a16="http://schemas.microsoft.com/office/drawing/2014/main" id="{69D2784D-DD28-430B-A192-EBC8B82D868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354468" y="6056134"/>
            <a:ext cx="644050" cy="644050"/>
          </a:xfrm>
          <a:prstGeom prst="rect">
            <a:avLst/>
          </a:prstGeom>
        </p:spPr>
      </p:pic>
      <p:pic>
        <p:nvPicPr>
          <p:cNvPr id="58" name="图形 57" descr="灯泡和齿轮 纯色填充">
            <a:extLst>
              <a:ext uri="{FF2B5EF4-FFF2-40B4-BE49-F238E27FC236}">
                <a16:creationId xmlns:a16="http://schemas.microsoft.com/office/drawing/2014/main" id="{48B2E593-C103-480A-9B65-E991EB85833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363256" y="5341905"/>
            <a:ext cx="641172" cy="641172"/>
          </a:xfrm>
          <a:prstGeom prst="rect">
            <a:avLst/>
          </a:prstGeom>
        </p:spPr>
      </p:pic>
      <p:sp>
        <p:nvSpPr>
          <p:cNvPr id="59" name="文本框 58">
            <a:extLst>
              <a:ext uri="{FF2B5EF4-FFF2-40B4-BE49-F238E27FC236}">
                <a16:creationId xmlns:a16="http://schemas.microsoft.com/office/drawing/2014/main" id="{8C1B2367-8795-4129-B3AF-66809ECFB247}"/>
              </a:ext>
            </a:extLst>
          </p:cNvPr>
          <p:cNvSpPr txBox="1"/>
          <p:nvPr/>
        </p:nvSpPr>
        <p:spPr>
          <a:xfrm>
            <a:off x="3433732" y="4708108"/>
            <a:ext cx="4879781" cy="369332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r>
              <a:rPr lang="en-US" altLang="zh-CN" b="1" dirty="0">
                <a:solidFill>
                  <a:schemeClr val="accent6"/>
                </a:solidFill>
              </a:rPr>
              <a:t>_</a:t>
            </a:r>
            <a:r>
              <a:rPr lang="en-US" altLang="zh-CN" b="1" dirty="0" err="1">
                <a:solidFill>
                  <a:schemeClr val="accent6"/>
                </a:solidFill>
              </a:rPr>
              <a:t>build_features</a:t>
            </a:r>
            <a:r>
              <a:rPr lang="en-US" altLang="zh-CN" b="1" dirty="0">
                <a:solidFill>
                  <a:schemeClr val="accent6"/>
                </a:solidFill>
              </a:rPr>
              <a:t>()</a:t>
            </a:r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9339E1B3-74C6-4B4C-8D45-A87F4AD7AF32}"/>
              </a:ext>
            </a:extLst>
          </p:cNvPr>
          <p:cNvSpPr/>
          <p:nvPr/>
        </p:nvSpPr>
        <p:spPr>
          <a:xfrm>
            <a:off x="6964727" y="5345090"/>
            <a:ext cx="2121748" cy="1346753"/>
          </a:xfrm>
          <a:prstGeom prst="roundRect">
            <a:avLst/>
          </a:prstGeom>
          <a:ln w="25400"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1" name="图形 60" descr="齿轮 纯色填充">
            <a:extLst>
              <a:ext uri="{FF2B5EF4-FFF2-40B4-BE49-F238E27FC236}">
                <a16:creationId xmlns:a16="http://schemas.microsoft.com/office/drawing/2014/main" id="{0D26670A-6DFF-4B7B-8891-1B422BCB82A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624600" y="5454491"/>
            <a:ext cx="868642" cy="868642"/>
          </a:xfrm>
          <a:prstGeom prst="rect">
            <a:avLst/>
          </a:prstGeom>
        </p:spPr>
      </p:pic>
      <p:sp>
        <p:nvSpPr>
          <p:cNvPr id="62" name="文本框 61">
            <a:extLst>
              <a:ext uri="{FF2B5EF4-FFF2-40B4-BE49-F238E27FC236}">
                <a16:creationId xmlns:a16="http://schemas.microsoft.com/office/drawing/2014/main" id="{9E9BB3EF-1880-4464-9977-21E08E0CC351}"/>
              </a:ext>
            </a:extLst>
          </p:cNvPr>
          <p:cNvSpPr txBox="1"/>
          <p:nvPr/>
        </p:nvSpPr>
        <p:spPr>
          <a:xfrm>
            <a:off x="7011250" y="6272377"/>
            <a:ext cx="20287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 err="1">
                <a:ln w="0"/>
                <a:solidFill>
                  <a:schemeClr val="accent6"/>
                </a:solidFill>
              </a:rPr>
              <a:t>VerifyScenarios</a:t>
            </a:r>
            <a:endParaRPr lang="zh-CN" altLang="en-US" sz="2000" b="1" dirty="0">
              <a:ln w="0"/>
              <a:solidFill>
                <a:schemeClr val="accent6"/>
              </a:solidFill>
            </a:endParaRPr>
          </a:p>
        </p:txBody>
      </p:sp>
      <p:sp>
        <p:nvSpPr>
          <p:cNvPr id="65" name="箭头: 右 64">
            <a:extLst>
              <a:ext uri="{FF2B5EF4-FFF2-40B4-BE49-F238E27FC236}">
                <a16:creationId xmlns:a16="http://schemas.microsoft.com/office/drawing/2014/main" id="{F5F33349-6331-4561-9425-9953B00C3D80}"/>
              </a:ext>
            </a:extLst>
          </p:cNvPr>
          <p:cNvSpPr/>
          <p:nvPr/>
        </p:nvSpPr>
        <p:spPr>
          <a:xfrm>
            <a:off x="9181414" y="5720526"/>
            <a:ext cx="664399" cy="418957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0403061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206</Words>
  <Application>Microsoft Office PowerPoint</Application>
  <PresentationFormat>宽屏</PresentationFormat>
  <Paragraphs>66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Consolas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Tarik Von</dc:creator>
  <cp:lastModifiedBy>Tarik Von</cp:lastModifiedBy>
  <cp:revision>114</cp:revision>
  <dcterms:created xsi:type="dcterms:W3CDTF">2023-08-09T12:44:00Z</dcterms:created>
  <dcterms:modified xsi:type="dcterms:W3CDTF">2025-11-20T19:20:13Z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